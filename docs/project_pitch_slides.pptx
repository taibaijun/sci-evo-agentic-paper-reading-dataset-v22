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14847E"/>
          </a:solidFill>
          <a:ln>
            <a:solidFill>
              <a:srgbClr val="14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Sci-Evo 科学演化轨迹数据集 V22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9966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2EBF4"/>
                </a:solidFill>
                <a:latin typeface="Microsoft YaHei"/>
              </a:defRPr>
            </a:pPr>
            <a:r>
              <a:t>基于 MinerU 解析开放论文，构建可追溯、可审计、证据对齐的科研过程数据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78892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赛道类型：Sci-Evo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领域：蛋白工程与 AI/计算辅助生物分子设计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公开数据集链接：github.com/taibaijun/sci-evo-agentic-paper-reading-dataset-v22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5413248"/>
            <a:ext cx="2057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162239"/>
                </a:solidFill>
                <a:latin typeface="Microsoft YaHei"/>
              </a:defRPr>
            </a:pPr>
            <a:r>
              <a:t>142</a:t>
            </a:r>
          </a:p>
          <a:p>
            <a:pPr algn="ctr">
              <a:defRPr sz="1200">
                <a:solidFill>
                  <a:srgbClr val="536073"/>
                </a:solidFill>
                <a:latin typeface="Microsoft YaHei"/>
              </a:defRPr>
            </a:pPr>
            <a:r>
              <a:t>高置信 样本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5413248"/>
            <a:ext cx="2057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162239"/>
                </a:solidFill>
                <a:latin typeface="Microsoft YaHei"/>
              </a:defRPr>
            </a:pPr>
            <a:r>
              <a:t>1,623</a:t>
            </a:r>
          </a:p>
          <a:p>
            <a:pPr algn="ctr">
              <a:defRPr sz="1200">
                <a:solidFill>
                  <a:srgbClr val="536073"/>
                </a:solidFill>
                <a:latin typeface="Microsoft YaHei"/>
              </a:defRPr>
            </a:pPr>
            <a:r>
              <a:t>科研步骤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30368" y="5413248"/>
            <a:ext cx="2057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162239"/>
                </a:solidFill>
                <a:latin typeface="Microsoft YaHei"/>
              </a:defRPr>
            </a:pPr>
            <a:r>
              <a:t>4,434</a:t>
            </a:r>
          </a:p>
          <a:p>
            <a:pPr algn="ctr">
              <a:defRPr sz="1200">
                <a:solidFill>
                  <a:srgbClr val="536073"/>
                </a:solidFill>
                <a:latin typeface="Microsoft YaHei"/>
              </a:defRPr>
            </a:pPr>
            <a:r>
              <a:t>证据引用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88936" y="5413248"/>
            <a:ext cx="2057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162239"/>
                </a:solidFill>
                <a:latin typeface="Microsoft YaHei"/>
              </a:defRPr>
            </a:pPr>
            <a:r>
              <a:t>0</a:t>
            </a:r>
          </a:p>
          <a:p>
            <a:pPr algn="ctr">
              <a:defRPr sz="1200">
                <a:solidFill>
                  <a:srgbClr val="536073"/>
                </a:solidFill>
                <a:latin typeface="Microsoft YaHei"/>
              </a:defRPr>
            </a:pPr>
            <a:r>
              <a:t>错误证据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863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4847E"/>
                </a:solidFill>
                <a:latin typeface="Microsoft YaHei"/>
              </a:defRPr>
            </a:pPr>
            <a:r>
              <a:t>Sci-Evo 科学演化轨迹数据集 V22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607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39"/>
                </a:solidFill>
                <a:latin typeface="Microsoft YaHei"/>
              </a:defRPr>
            </a:pPr>
            <a:r>
              <a:t>30 秒讲清楚这个项目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017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36073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34747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1234440"/>
          </a:xfrm>
          <a:prstGeom prst="rect">
            <a:avLst/>
          </a:prstGeom>
          <a:solidFill>
            <a:srgbClr val="205BA7"/>
          </a:solidFill>
          <a:ln>
            <a:solidFill>
              <a:srgbClr val="205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37944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2239"/>
                </a:solidFill>
                <a:latin typeface="Microsoft YaHei"/>
              </a:defRPr>
            </a:pPr>
            <a:r>
              <a:t>我们做了什么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21992"/>
            <a:ext cx="312724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36073"/>
                </a:solidFill>
                <a:latin typeface="Microsoft YaHei"/>
              </a:defRPr>
            </a:pPr>
            <a:r>
              <a:t>把开放获取蛋白工程论文整理成多步科研演化轨迹，而不是只做摘要或问答。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91640"/>
            <a:ext cx="34747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691640"/>
            <a:ext cx="73152" cy="1234440"/>
          </a:xfrm>
          <a:prstGeom prst="rect">
            <a:avLst/>
          </a:prstGeom>
          <a:solidFill>
            <a:srgbClr val="14847E"/>
          </a:solidFill>
          <a:ln>
            <a:solidFill>
              <a:srgbClr val="14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37944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2239"/>
                </a:solidFill>
                <a:latin typeface="Microsoft YaHei"/>
              </a:defRPr>
            </a:pPr>
            <a:r>
              <a:t>为什么可信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21992"/>
            <a:ext cx="312724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36073"/>
                </a:solidFill>
                <a:latin typeface="Microsoft YaHei"/>
              </a:defRPr>
            </a:pPr>
            <a:r>
              <a:t>每个步骤都必须引用 MinerU 解析全文中的 证据引用，最终通过确定性审计。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691640"/>
            <a:ext cx="34747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5864" y="1691640"/>
            <a:ext cx="73152" cy="1234440"/>
          </a:xfrm>
          <a:prstGeom prst="rect">
            <a:avLst/>
          </a:prstGeom>
          <a:solidFill>
            <a:srgbClr val="488B5B"/>
          </a:solidFill>
          <a:ln>
            <a:solidFill>
              <a:srgbClr val="48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2" y="1837944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2239"/>
                </a:solidFill>
                <a:latin typeface="Microsoft YaHei"/>
              </a:defRPr>
            </a:pPr>
            <a:r>
              <a:t>能用来做什么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2221992"/>
            <a:ext cx="312724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36073"/>
                </a:solidFill>
                <a:latin typeface="Microsoft YaHei"/>
              </a:defRPr>
            </a:pPr>
            <a:r>
              <a:t>训练和评估科学智能体的多步推理、失败处理、修订和证据对齐能力。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749039"/>
            <a:ext cx="20574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205BA7"/>
                </a:solidFill>
                <a:latin typeface="Microsoft YaHei"/>
              </a:defRPr>
            </a:pPr>
            <a:r>
              <a:t>142</a:t>
            </a:r>
          </a:p>
          <a:p>
            <a:pPr algn="ctr">
              <a:defRPr sz="1200">
                <a:solidFill>
                  <a:srgbClr val="536073"/>
                </a:solidFill>
                <a:latin typeface="Microsoft YaHei"/>
              </a:defRPr>
            </a:pPr>
            <a:r>
              <a:t>主数据 样本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3749039"/>
            <a:ext cx="20574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14847E"/>
                </a:solidFill>
                <a:latin typeface="Microsoft YaHei"/>
              </a:defRPr>
            </a:pPr>
            <a:r>
              <a:t>10</a:t>
            </a:r>
          </a:p>
          <a:p>
            <a:pPr algn="ctr">
              <a:defRPr sz="1200">
                <a:solidFill>
                  <a:srgbClr val="536073"/>
                </a:solidFill>
                <a:latin typeface="Microsoft YaHei"/>
              </a:defRPr>
            </a:pPr>
            <a:r>
              <a:t>完整样例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3749039"/>
            <a:ext cx="20574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488B5B"/>
                </a:solidFill>
                <a:latin typeface="Microsoft YaHei"/>
              </a:defRPr>
            </a:pPr>
            <a:r>
              <a:t>100%</a:t>
            </a:r>
          </a:p>
          <a:p>
            <a:pPr algn="ctr">
              <a:defRPr sz="1200">
                <a:solidFill>
                  <a:srgbClr val="536073"/>
                </a:solidFill>
                <a:latin typeface="Microsoft YaHei"/>
              </a:defRPr>
            </a:pPr>
            <a:r>
              <a:t>主数据规则通过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3749039"/>
            <a:ext cx="20574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CC9320"/>
                </a:solidFill>
                <a:latin typeface="Microsoft YaHei"/>
              </a:defRPr>
            </a:pPr>
            <a:r>
              <a:t>2026</a:t>
            </a:r>
          </a:p>
          <a:p>
            <a:pPr algn="ctr">
              <a:defRPr sz="1200">
                <a:solidFill>
                  <a:srgbClr val="536073"/>
                </a:solidFill>
                <a:latin typeface="Microsoft YaHei"/>
              </a:defRPr>
            </a:pPr>
            <a:r>
              <a:t>开源发布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6235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62239"/>
                </a:solidFill>
                <a:latin typeface="Microsoft YaHei"/>
              </a:defRPr>
            </a:pPr>
            <a:r>
              <a:t>一句话：让模型学习科研过程，而不是只背最终结论。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19088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536073"/>
                </a:solidFill>
                <a:latin typeface="Microsoft YaHei"/>
              </a:defRPr>
            </a:pPr>
            <a:r>
              <a:t>公开仓库：github.com/taibaijun/sci-evo-agentic-paper-reading-dataset-v22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863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4847E"/>
                </a:solidFill>
                <a:latin typeface="Microsoft YaHei"/>
              </a:defRPr>
            </a:pPr>
            <a:r>
              <a:t>Sci-Evo 科学演化轨迹数据集 V22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607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39"/>
                </a:solidFill>
                <a:latin typeface="Microsoft YaHei"/>
              </a:defRPr>
            </a:pPr>
            <a:r>
              <a:t>为什么需要 Sci-Evo 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017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36073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31546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73152" cy="1188720"/>
          </a:xfrm>
          <a:prstGeom prst="rect">
            <a:avLst/>
          </a:prstGeom>
          <a:solidFill>
            <a:srgbClr val="CA5B49"/>
          </a:solidFill>
          <a:ln>
            <a:solidFill>
              <a:srgbClr val="CA5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792224"/>
            <a:ext cx="2825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2239"/>
                </a:solidFill>
                <a:latin typeface="Microsoft YaHei"/>
              </a:defRPr>
            </a:pPr>
            <a:r>
              <a:t>普通摘要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176272"/>
            <a:ext cx="28072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36073"/>
                </a:solidFill>
                <a:latin typeface="Microsoft YaHei"/>
              </a:defRPr>
            </a:pPr>
            <a:r>
              <a:t>通常只告诉我们论文最后发现了什么。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063240"/>
            <a:ext cx="31546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063240"/>
            <a:ext cx="73152" cy="1188720"/>
          </a:xfrm>
          <a:prstGeom prst="rect">
            <a:avLst/>
          </a:prstGeom>
          <a:solidFill>
            <a:srgbClr val="CC9320"/>
          </a:solidFill>
          <a:ln>
            <a:solidFill>
              <a:srgbClr val="CC9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3209544"/>
            <a:ext cx="2825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2239"/>
                </a:solidFill>
                <a:latin typeface="Microsoft YaHei"/>
              </a:defRPr>
            </a:pPr>
            <a:r>
              <a:t>普通问答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593592"/>
            <a:ext cx="28072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36073"/>
                </a:solidFill>
                <a:latin typeface="Microsoft YaHei"/>
              </a:defRPr>
            </a:pPr>
            <a:r>
              <a:t>通常只训练模型回答某个局部问题。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480560"/>
            <a:ext cx="31546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480560"/>
            <a:ext cx="73152" cy="1188720"/>
          </a:xfrm>
          <a:prstGeom prst="rect">
            <a:avLst/>
          </a:prstGeom>
          <a:solidFill>
            <a:srgbClr val="14847E"/>
          </a:solidFill>
          <a:ln>
            <a:solidFill>
              <a:srgbClr val="14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626864"/>
            <a:ext cx="2825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2239"/>
                </a:solidFill>
                <a:latin typeface="Microsoft YaHei"/>
              </a:defRPr>
            </a:pPr>
            <a:r>
              <a:t>Sci-Evo 轨迹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5010912"/>
            <a:ext cx="28072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36073"/>
                </a:solidFill>
                <a:latin typeface="Microsoft YaHei"/>
              </a:defRPr>
            </a:pPr>
            <a:r>
              <a:t>记录问题、假设、设计、实验、失败、修订和验证。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828800"/>
            <a:ext cx="6583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62239"/>
                </a:solidFill>
                <a:latin typeface="Microsoft YaHei"/>
              </a:defRPr>
            </a:pPr>
            <a:r>
              <a:t>真实科学研究不是一步到位。</a:t>
            </a:r>
          </a:p>
          <a:p>
            <a:pPr>
              <a:spcAft>
                <a:spcPts val="1300"/>
              </a:spcAft>
              <a:defRPr sz="2100">
                <a:solidFill>
                  <a:srgbClr val="162239"/>
                </a:solidFill>
                <a:latin typeface="Microsoft YaHei"/>
              </a:defRPr>
            </a:pPr>
            <a:r>
              <a:t>模型需要理解为什么做下一步，而不是只输出结论。</a:t>
            </a:r>
          </a:p>
          <a:p>
            <a:pPr>
              <a:spcAft>
                <a:spcPts val="1300"/>
              </a:spcAft>
              <a:defRPr sz="2100">
                <a:solidFill>
                  <a:srgbClr val="162239"/>
                </a:solidFill>
                <a:latin typeface="Microsoft YaHei"/>
              </a:defRPr>
            </a:pPr>
            <a:r>
              <a:t>蛋白工程论文天然包含多轮设计、实验反馈和验证指标，适合构建演化轨迹。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19088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536073"/>
                </a:solidFill>
                <a:latin typeface="Microsoft YaHei"/>
              </a:defRPr>
            </a:pPr>
            <a:r>
              <a:t>公开仓库：github.com/taibaijun/sci-evo-agentic-paper-reading-dataset-v22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863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4847E"/>
                </a:solidFill>
                <a:latin typeface="Microsoft YaHei"/>
              </a:defRPr>
            </a:pPr>
            <a:r>
              <a:t>Sci-Evo 科学演化轨迹数据集 V22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607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39"/>
                </a:solidFill>
                <a:latin typeface="Microsoft YaHei"/>
              </a:defRPr>
            </a:pPr>
            <a:r>
              <a:t>数据集规模与覆盖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017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36073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91640"/>
            <a:ext cx="242316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205BA7"/>
                </a:solidFill>
                <a:latin typeface="Microsoft YaHei"/>
              </a:defRPr>
            </a:pPr>
            <a:r>
              <a:t>142</a:t>
            </a:r>
          </a:p>
          <a:p>
            <a:pPr algn="ctr">
              <a:defRPr sz="1200">
                <a:solidFill>
                  <a:srgbClr val="536073"/>
                </a:solidFill>
                <a:latin typeface="Microsoft YaHei"/>
              </a:defRPr>
            </a:pPr>
            <a:r>
              <a:t>高置信 Sci-Evo 样本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1691640"/>
            <a:ext cx="242316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14847E"/>
                </a:solidFill>
                <a:latin typeface="Microsoft YaHei"/>
              </a:defRPr>
            </a:pPr>
            <a:r>
              <a:t>1,623</a:t>
            </a:r>
          </a:p>
          <a:p>
            <a:pPr algn="ctr">
              <a:defRPr sz="1200">
                <a:solidFill>
                  <a:srgbClr val="536073"/>
                </a:solidFill>
                <a:latin typeface="Microsoft YaHei"/>
              </a:defRPr>
            </a:pPr>
            <a:r>
              <a:t>科研轨迹步骤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691640"/>
            <a:ext cx="242316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488B5B"/>
                </a:solidFill>
                <a:latin typeface="Microsoft YaHei"/>
              </a:defRPr>
            </a:pPr>
            <a:r>
              <a:t>4,434</a:t>
            </a:r>
          </a:p>
          <a:p>
            <a:pPr algn="ctr">
              <a:defRPr sz="1200">
                <a:solidFill>
                  <a:srgbClr val="536073"/>
                </a:solidFill>
                <a:latin typeface="Microsoft YaHei"/>
              </a:defRPr>
            </a:pPr>
            <a:r>
              <a:t>全文 证据引用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87968" y="1691640"/>
            <a:ext cx="242316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CC9320"/>
                </a:solidFill>
                <a:latin typeface="Microsoft YaHei"/>
              </a:defRPr>
            </a:pPr>
            <a:r>
              <a:t>11.43</a:t>
            </a:r>
          </a:p>
          <a:p>
            <a:pPr algn="ctr">
              <a:defRPr sz="1200">
                <a:solidFill>
                  <a:srgbClr val="536073"/>
                </a:solidFill>
                <a:latin typeface="Microsoft YaHei"/>
              </a:defRPr>
            </a:pPr>
            <a:r>
              <a:t>平均步骤数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62239"/>
                </a:solidFill>
                <a:latin typeface="Microsoft YaHei"/>
              </a:defRPr>
            </a:pPr>
            <a:r>
              <a:t>主数据来自 178 条候选集的保守筛选。</a:t>
            </a:r>
          </a:p>
          <a:p>
            <a:pPr>
              <a:spcAft>
                <a:spcPts val="900"/>
              </a:spcAft>
              <a:defRPr sz="2000">
                <a:solidFill>
                  <a:srgbClr val="162239"/>
                </a:solidFill>
                <a:latin typeface="Microsoft YaHei"/>
              </a:defRPr>
            </a:pPr>
            <a:r>
              <a:t>每条 样本 包含 7-12 个科研步骤。</a:t>
            </a:r>
          </a:p>
          <a:p>
            <a:pPr>
              <a:spcAft>
                <a:spcPts val="900"/>
              </a:spcAft>
              <a:defRPr sz="2000">
                <a:solidFill>
                  <a:srgbClr val="162239"/>
                </a:solidFill>
                <a:latin typeface="Microsoft YaHei"/>
              </a:defRPr>
            </a:pPr>
            <a:r>
              <a:t>保留 10 篇 MinerU 原始解析样例，便于检查来源格式。</a:t>
            </a:r>
          </a:p>
          <a:p>
            <a:pPr>
              <a:spcAft>
                <a:spcPts val="900"/>
              </a:spcAft>
              <a:defRPr sz="2000">
                <a:solidFill>
                  <a:srgbClr val="162239"/>
                </a:solidFill>
                <a:latin typeface="Microsoft YaHei"/>
              </a:defRPr>
            </a:pPr>
            <a:r>
              <a:t>扩展候选集随包保留，只用于展示筛选透明度。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536073"/>
                </a:solidFill>
                <a:latin typeface="Microsoft YaHei"/>
              </a:defRPr>
            </a:pPr>
            <a:r>
              <a:t>公开仓库：github.com/taibaijun/sci-evo-agentic-paper-reading-dataset-v22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863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4847E"/>
                </a:solidFill>
                <a:latin typeface="Microsoft YaHei"/>
              </a:defRPr>
            </a:pPr>
            <a:r>
              <a:t>Sci-Evo 科学演化轨迹数据集 V22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607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39"/>
                </a:solidFill>
                <a:latin typeface="Microsoft YaHei"/>
              </a:defRPr>
            </a:pPr>
            <a:r>
              <a:t>一条数据长什么样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017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36073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331720"/>
            <a:ext cx="30175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0" y="2331720"/>
            <a:ext cx="73152" cy="1371600"/>
          </a:xfrm>
          <a:prstGeom prst="rect">
            <a:avLst/>
          </a:prstGeom>
          <a:solidFill>
            <a:srgbClr val="162239"/>
          </a:solidFill>
          <a:ln>
            <a:solidFill>
              <a:srgbClr val="16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8848" y="2478024"/>
            <a:ext cx="2688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2239"/>
                </a:solidFill>
                <a:latin typeface="Microsoft YaHei"/>
              </a:defRPr>
            </a:pPr>
            <a:r>
              <a:t>一条 JSONL 样本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8848" y="2862072"/>
            <a:ext cx="26700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36073"/>
                </a:solidFill>
                <a:latin typeface="Microsoft YaHei"/>
              </a:defRPr>
            </a:pPr>
            <a:r>
              <a:t>`case_id`</a:t>
            </a:r>
            <a:br/>
            <a:r>
              <a:t>`dataset_type`</a:t>
            </a:r>
            <a:br/>
            <a:r>
              <a:t>`domain`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17320"/>
            <a:ext cx="29260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17320"/>
            <a:ext cx="73152" cy="1097280"/>
          </a:xfrm>
          <a:prstGeom prst="rect">
            <a:avLst/>
          </a:prstGeom>
          <a:solidFill>
            <a:srgbClr val="205BA7"/>
          </a:solidFill>
          <a:ln>
            <a:solidFill>
              <a:srgbClr val="205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563624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2239"/>
                </a:solidFill>
                <a:latin typeface="Microsoft YaHei"/>
              </a:defRPr>
            </a:pPr>
            <a:r>
              <a:t>来源论文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1947672"/>
            <a:ext cx="25786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36073"/>
                </a:solidFill>
                <a:latin typeface="Microsoft YaHei"/>
              </a:defRPr>
            </a:pPr>
            <a:r>
              <a:t>`source`</a:t>
            </a:r>
            <a:br/>
            <a:r>
              <a:t>标题、DOI、license、MinerU 路径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251960"/>
            <a:ext cx="29260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251960"/>
            <a:ext cx="73152" cy="1097280"/>
          </a:xfrm>
          <a:prstGeom prst="rect">
            <a:avLst/>
          </a:prstGeom>
          <a:solidFill>
            <a:srgbClr val="14847E"/>
          </a:solidFill>
          <a:ln>
            <a:solidFill>
              <a:srgbClr val="14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398264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2239"/>
                </a:solidFill>
                <a:latin typeface="Microsoft YaHei"/>
              </a:defRPr>
            </a:pPr>
            <a:r>
              <a:t>初始问题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4782312"/>
            <a:ext cx="25786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36073"/>
                </a:solidFill>
                <a:latin typeface="Microsoft YaHei"/>
              </a:defRPr>
            </a:pPr>
            <a:r>
              <a:t>`initial_request`</a:t>
            </a:r>
            <a:br/>
            <a:r>
              <a:t>研究问题、目标对象、约束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417320"/>
            <a:ext cx="31546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417320"/>
            <a:ext cx="73152" cy="1097280"/>
          </a:xfrm>
          <a:prstGeom prst="rect">
            <a:avLst/>
          </a:prstGeom>
          <a:solidFill>
            <a:srgbClr val="488B5B"/>
          </a:solidFill>
          <a:ln>
            <a:solidFill>
              <a:srgbClr val="48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1563624"/>
            <a:ext cx="2825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2239"/>
                </a:solidFill>
                <a:latin typeface="Microsoft YaHei"/>
              </a:defRPr>
            </a:pPr>
            <a:r>
              <a:t>科研轨迹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1947672"/>
            <a:ext cx="28072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36073"/>
                </a:solidFill>
                <a:latin typeface="Microsoft YaHei"/>
              </a:defRPr>
            </a:pPr>
            <a:r>
              <a:t>`evolution_trajectory`</a:t>
            </a:r>
            <a:br/>
            <a:r>
              <a:t>7-12 步假设、决策、实验、观察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251960"/>
            <a:ext cx="31546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4251960"/>
            <a:ext cx="73152" cy="1097280"/>
          </a:xfrm>
          <a:prstGeom prst="rect">
            <a:avLst/>
          </a:prstGeom>
          <a:solidFill>
            <a:srgbClr val="CC9320"/>
          </a:solidFill>
          <a:ln>
            <a:solidFill>
              <a:srgbClr val="CC9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8" y="4398264"/>
            <a:ext cx="2825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2239"/>
                </a:solidFill>
                <a:latin typeface="Microsoft YaHei"/>
              </a:defRPr>
            </a:pPr>
            <a:r>
              <a:t>验证与质控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4782312"/>
            <a:ext cx="28072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36073"/>
                </a:solidFill>
                <a:latin typeface="Microsoft YaHei"/>
              </a:defRPr>
            </a:pPr>
            <a:r>
              <a:t>`success_verification`</a:t>
            </a:r>
            <a:br/>
            <a:r>
              <a:t>`quality_control`</a:t>
            </a:r>
            <a:br/>
            <a:r>
              <a:t>指标、结论、审计信息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03320" y="1965960"/>
            <a:ext cx="594360" cy="777240"/>
          </a:xfrm>
          <a:prstGeom prst="line">
            <a:avLst/>
          </a:prstGeom>
          <a:ln w="19050">
            <a:solidFill>
              <a:srgbClr val="D4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703320" y="2971800"/>
            <a:ext cx="594360" cy="1828800"/>
          </a:xfrm>
          <a:prstGeom prst="line">
            <a:avLst/>
          </a:prstGeom>
          <a:ln w="19050">
            <a:solidFill>
              <a:srgbClr val="D4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315200" y="1965960"/>
            <a:ext cx="914400" cy="777240"/>
          </a:xfrm>
          <a:prstGeom prst="line">
            <a:avLst/>
          </a:prstGeom>
          <a:ln w="19050">
            <a:solidFill>
              <a:srgbClr val="D4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315200" y="2971800"/>
            <a:ext cx="914400" cy="1828800"/>
          </a:xfrm>
          <a:prstGeom prst="line">
            <a:avLst/>
          </a:prstGeom>
          <a:ln w="19050">
            <a:solidFill>
              <a:srgbClr val="D4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05840" y="5806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62239"/>
                </a:solidFill>
                <a:latin typeface="Microsoft YaHei"/>
              </a:defRPr>
            </a:pPr>
            <a:r>
              <a:t>核心原则：每个轨迹步骤都必须带 证据，且 证据 能回到 MinerU 全文。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536073"/>
                </a:solidFill>
                <a:latin typeface="Microsoft YaHei"/>
              </a:defRPr>
            </a:pPr>
            <a:r>
              <a:t>公开仓库：github.com/taibaijun/sci-evo-agentic-paper-reading-dataset-v22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863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4847E"/>
                </a:solidFill>
                <a:latin typeface="Microsoft YaHei"/>
              </a:defRPr>
            </a:pPr>
            <a:r>
              <a:t>Sci-Evo 科学演化轨迹数据集 V22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607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39"/>
                </a:solidFill>
                <a:latin typeface="Microsoft YaHei"/>
              </a:defRPr>
            </a:pPr>
            <a:r>
              <a:t>构建流程：模型生成，代码把关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017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36073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1298448" cy="713232"/>
          </a:xfrm>
          <a:prstGeom prst="roundRect">
            <a:avLst>
              <a:gd name="adj" fmla="val 12000"/>
            </a:avLst>
          </a:prstGeom>
          <a:solidFill>
            <a:srgbClr val="205BA7"/>
          </a:solidFill>
          <a:ln>
            <a:solidFill>
              <a:srgbClr val="205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20" b="1">
                <a:solidFill>
                  <a:srgbClr val="FFFFFF"/>
                </a:solidFill>
                <a:latin typeface="Microsoft YaHei"/>
              </a:defRPr>
            </a:pPr>
            <a:r>
              <a:t>PDF 论文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47088" y="2231136"/>
            <a:ext cx="146304" cy="0"/>
          </a:xfrm>
          <a:prstGeom prst="line">
            <a:avLst/>
          </a:prstGeom>
          <a:ln w="19050">
            <a:solidFill>
              <a:srgbClr val="53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11679" y="1874519"/>
            <a:ext cx="1298448" cy="713232"/>
          </a:xfrm>
          <a:prstGeom prst="roundRect">
            <a:avLst>
              <a:gd name="adj" fmla="val 12000"/>
            </a:avLst>
          </a:prstGeom>
          <a:solidFill>
            <a:srgbClr val="14847E"/>
          </a:solidFill>
          <a:ln>
            <a:solidFill>
              <a:srgbClr val="14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20" b="1">
                <a:solidFill>
                  <a:srgbClr val="FFFFFF"/>
                </a:solidFill>
                <a:latin typeface="Microsoft YaHei"/>
              </a:defRPr>
            </a:pPr>
            <a:r>
              <a:t>MinerU 解析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10127" y="2231136"/>
            <a:ext cx="146305" cy="0"/>
          </a:xfrm>
          <a:prstGeom prst="line">
            <a:avLst/>
          </a:prstGeom>
          <a:ln w="19050">
            <a:solidFill>
              <a:srgbClr val="53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74720" y="1874519"/>
            <a:ext cx="1298448" cy="713232"/>
          </a:xfrm>
          <a:prstGeom prst="roundRect">
            <a:avLst>
              <a:gd name="adj" fmla="val 12000"/>
            </a:avLst>
          </a:prstGeom>
          <a:solidFill>
            <a:srgbClr val="488B5B"/>
          </a:solidFill>
          <a:ln>
            <a:solidFill>
              <a:srgbClr val="48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20" b="1">
                <a:solidFill>
                  <a:srgbClr val="FFFFFF"/>
                </a:solidFill>
                <a:latin typeface="Microsoft YaHei"/>
              </a:defRPr>
            </a:pPr>
            <a:r>
              <a:t>事件抽取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73168" y="2231136"/>
            <a:ext cx="146304" cy="0"/>
          </a:xfrm>
          <a:prstGeom prst="line">
            <a:avLst/>
          </a:prstGeom>
          <a:ln w="19050">
            <a:solidFill>
              <a:srgbClr val="53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937759" y="1874519"/>
            <a:ext cx="1298448" cy="713232"/>
          </a:xfrm>
          <a:prstGeom prst="roundRect">
            <a:avLst>
              <a:gd name="adj" fmla="val 12000"/>
            </a:avLst>
          </a:prstGeom>
          <a:solidFill>
            <a:srgbClr val="CC9320"/>
          </a:solidFill>
          <a:ln>
            <a:solidFill>
              <a:srgbClr val="CC9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20" b="1">
                <a:solidFill>
                  <a:srgbClr val="FFFFFF"/>
                </a:solidFill>
                <a:latin typeface="Microsoft YaHei"/>
              </a:defRPr>
            </a:pPr>
            <a:r>
              <a:t>事件图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36207" y="2231136"/>
            <a:ext cx="146305" cy="0"/>
          </a:xfrm>
          <a:prstGeom prst="line">
            <a:avLst/>
          </a:prstGeom>
          <a:ln w="19050">
            <a:solidFill>
              <a:srgbClr val="53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799" y="1874519"/>
            <a:ext cx="1298448" cy="713232"/>
          </a:xfrm>
          <a:prstGeom prst="roundRect">
            <a:avLst>
              <a:gd name="adj" fmla="val 12000"/>
            </a:avLst>
          </a:prstGeom>
          <a:solidFill>
            <a:srgbClr val="CA5B49"/>
          </a:solidFill>
          <a:ln>
            <a:solidFill>
              <a:srgbClr val="CA5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20" b="1">
                <a:solidFill>
                  <a:srgbClr val="FFFFFF"/>
                </a:solidFill>
                <a:latin typeface="Microsoft YaHei"/>
              </a:defRPr>
            </a:pPr>
            <a:r>
              <a:t>轨迹草稿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99247" y="2231136"/>
            <a:ext cx="146304" cy="0"/>
          </a:xfrm>
          <a:prstGeom prst="line">
            <a:avLst/>
          </a:prstGeom>
          <a:ln w="19050">
            <a:solidFill>
              <a:srgbClr val="53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863840" y="1874519"/>
            <a:ext cx="1298448" cy="713232"/>
          </a:xfrm>
          <a:prstGeom prst="roundRect">
            <a:avLst>
              <a:gd name="adj" fmla="val 12000"/>
            </a:avLst>
          </a:prstGeom>
          <a:solidFill>
            <a:srgbClr val="205BA7"/>
          </a:solidFill>
          <a:ln>
            <a:solidFill>
              <a:srgbClr val="205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20" b="1">
                <a:solidFill>
                  <a:srgbClr val="FFFFFF"/>
                </a:solidFill>
                <a:latin typeface="Microsoft YaHei"/>
              </a:defRPr>
            </a:pPr>
            <a:r>
              <a:t>证据对齐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62288" y="2231136"/>
            <a:ext cx="146304" cy="0"/>
          </a:xfrm>
          <a:prstGeom prst="line">
            <a:avLst/>
          </a:prstGeom>
          <a:ln w="19050">
            <a:solidFill>
              <a:srgbClr val="53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326880" y="1874519"/>
            <a:ext cx="1298448" cy="713232"/>
          </a:xfrm>
          <a:prstGeom prst="roundRect">
            <a:avLst>
              <a:gd name="adj" fmla="val 12000"/>
            </a:avLst>
          </a:prstGeom>
          <a:solidFill>
            <a:srgbClr val="14847E"/>
          </a:solidFill>
          <a:ln>
            <a:solidFill>
              <a:srgbClr val="14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20" b="1">
                <a:solidFill>
                  <a:srgbClr val="FFFFFF"/>
                </a:solidFill>
                <a:latin typeface="Microsoft YaHei"/>
              </a:defRPr>
            </a:pPr>
            <a:r>
              <a:t>自检修订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625328" y="2231136"/>
            <a:ext cx="146304" cy="0"/>
          </a:xfrm>
          <a:prstGeom prst="line">
            <a:avLst/>
          </a:prstGeom>
          <a:ln w="19050">
            <a:solidFill>
              <a:srgbClr val="53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789919" y="1874519"/>
            <a:ext cx="1298448" cy="713232"/>
          </a:xfrm>
          <a:prstGeom prst="roundRect">
            <a:avLst>
              <a:gd name="adj" fmla="val 12000"/>
            </a:avLst>
          </a:prstGeom>
          <a:solidFill>
            <a:srgbClr val="488B5B"/>
          </a:solidFill>
          <a:ln>
            <a:solidFill>
              <a:srgbClr val="48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20" b="1">
                <a:solidFill>
                  <a:srgbClr val="FFFFFF"/>
                </a:solidFill>
                <a:latin typeface="Microsoft YaHei"/>
              </a:defRPr>
            </a:pPr>
            <a:r>
              <a:t>规则过滤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520440"/>
            <a:ext cx="466344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520440"/>
            <a:ext cx="73152" cy="1325880"/>
          </a:xfrm>
          <a:prstGeom prst="rect">
            <a:avLst/>
          </a:prstGeom>
          <a:solidFill>
            <a:srgbClr val="205BA7"/>
          </a:solidFill>
          <a:ln>
            <a:solidFill>
              <a:srgbClr val="205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666744"/>
            <a:ext cx="4334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2239"/>
                </a:solidFill>
                <a:latin typeface="Microsoft YaHei"/>
              </a:defRPr>
            </a:pPr>
            <a:r>
              <a:t>模型负责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4050791"/>
            <a:ext cx="431596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36073"/>
                </a:solidFill>
                <a:latin typeface="Microsoft YaHei"/>
              </a:defRPr>
            </a:pPr>
            <a:r>
              <a:t>阅读论文、抽取科研事件、组织事件关系、草拟科学演化轨迹、提出自检意见。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3520440"/>
            <a:ext cx="466344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3520440"/>
            <a:ext cx="73152" cy="1325880"/>
          </a:xfrm>
          <a:prstGeom prst="rect">
            <a:avLst/>
          </a:prstGeom>
          <a:solidFill>
            <a:srgbClr val="14847E"/>
          </a:solidFill>
          <a:ln>
            <a:solidFill>
              <a:srgbClr val="14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3666744"/>
            <a:ext cx="43342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2239"/>
                </a:solidFill>
                <a:latin typeface="Microsoft YaHei"/>
              </a:defRPr>
            </a:pPr>
            <a:r>
              <a:t>代码负责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4050791"/>
            <a:ext cx="431596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36073"/>
                </a:solidFill>
                <a:latin typeface="Microsoft YaHei"/>
              </a:defRPr>
            </a:pPr>
            <a:r>
              <a:t>结构规范 校验、引用 精确匹配、数字/实体 证据支撑、来源一致性和最终筛选。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532120"/>
            <a:ext cx="10378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2239"/>
                </a:solidFill>
                <a:latin typeface="Microsoft YaHei"/>
              </a:defRPr>
            </a:pPr>
            <a:r>
              <a:t>这样既利用大模型读论文的能力，又把科学可信度交给可复现的确定性检查。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19088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536073"/>
                </a:solidFill>
                <a:latin typeface="Microsoft YaHei"/>
              </a:defRPr>
            </a:pPr>
            <a:r>
              <a:t>公开仓库：github.com/taibaijun/sci-evo-agentic-paper-reading-dataset-v22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863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4847E"/>
                </a:solidFill>
                <a:latin typeface="Microsoft YaHei"/>
              </a:defRPr>
            </a:pPr>
            <a:r>
              <a:t>Sci-Evo 科学演化轨迹数据集 V22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607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39"/>
                </a:solidFill>
                <a:latin typeface="Microsoft YaHei"/>
              </a:defRPr>
            </a:pPr>
            <a:r>
              <a:t>MinerU 是证据链的底座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017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36073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73152" cy="914400"/>
          </a:xfrm>
          <a:prstGeom prst="rect">
            <a:avLst/>
          </a:prstGeom>
          <a:solidFill>
            <a:srgbClr val="205BA7"/>
          </a:solidFill>
          <a:ln>
            <a:solidFill>
              <a:srgbClr val="205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975104"/>
            <a:ext cx="1773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2239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359152"/>
            <a:ext cx="1755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36073"/>
                </a:solidFill>
                <a:latin typeface="Microsoft YaHei"/>
              </a:defRPr>
            </a:pPr>
            <a:r>
              <a:t>开放获取论文 PDF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417320"/>
            <a:ext cx="24688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1417320"/>
            <a:ext cx="73152" cy="1737360"/>
          </a:xfrm>
          <a:prstGeom prst="rect">
            <a:avLst/>
          </a:prstGeom>
          <a:solidFill>
            <a:srgbClr val="14847E"/>
          </a:solidFill>
          <a:ln>
            <a:solidFill>
              <a:srgbClr val="14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8768" y="1563624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2239"/>
                </a:solidFill>
                <a:latin typeface="Microsoft YaHei"/>
              </a:defRPr>
            </a:pPr>
            <a:r>
              <a:t>MinerU 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1947672"/>
            <a:ext cx="21214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36073"/>
                </a:solidFill>
                <a:latin typeface="Microsoft YaHei"/>
              </a:defRPr>
            </a:pPr>
            <a:r>
              <a:t>`mineru.md`</a:t>
            </a:r>
            <a:br/>
            <a:r>
              <a:t>`combined.md`</a:t>
            </a:r>
            <a:br/>
            <a:r>
              <a:t>`content_list.json`</a:t>
            </a:r>
            <a:br/>
            <a:r>
              <a:t>`status.json`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828800"/>
            <a:ext cx="3977639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03720" y="1828800"/>
            <a:ext cx="73152" cy="914400"/>
          </a:xfrm>
          <a:prstGeom prst="rect">
            <a:avLst/>
          </a:prstGeom>
          <a:solidFill>
            <a:srgbClr val="488B5B"/>
          </a:solidFill>
          <a:ln>
            <a:solidFill>
              <a:srgbClr val="48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4888" y="1975104"/>
            <a:ext cx="3648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2239"/>
                </a:solidFill>
                <a:latin typeface="Microsoft YaHei"/>
              </a:defRPr>
            </a:pPr>
            <a:r>
              <a:t>最终数据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2359152"/>
            <a:ext cx="3630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36073"/>
                </a:solidFill>
                <a:latin typeface="Microsoft YaHei"/>
              </a:defRPr>
            </a:pPr>
            <a:r>
              <a:t>每个 Sci-Evo 步骤都引用 `combined.md` 中能匹配的 引用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71800" y="2286000"/>
            <a:ext cx="640080" cy="0"/>
          </a:xfrm>
          <a:prstGeom prst="line">
            <a:avLst/>
          </a:prstGeom>
          <a:ln w="19050">
            <a:solidFill>
              <a:srgbClr val="53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2286000"/>
            <a:ext cx="685800" cy="0"/>
          </a:xfrm>
          <a:prstGeom prst="line">
            <a:avLst/>
          </a:prstGeom>
          <a:ln w="19050">
            <a:solidFill>
              <a:srgbClr val="53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97280" y="3977639"/>
            <a:ext cx="9875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162239"/>
                </a:solidFill>
                <a:latin typeface="Microsoft YaHei"/>
              </a:defRPr>
            </a:pPr>
            <a:r>
              <a:t>最终 证据 不来自模型记忆。</a:t>
            </a:r>
          </a:p>
          <a:p>
            <a:pPr>
              <a:spcAft>
                <a:spcPts val="1100"/>
              </a:spcAft>
              <a:defRPr sz="2100">
                <a:solidFill>
                  <a:srgbClr val="162239"/>
                </a:solidFill>
                <a:latin typeface="Microsoft YaHei"/>
              </a:defRPr>
            </a:pPr>
            <a:r>
              <a:t>`combined.md` 是标准证据源。</a:t>
            </a:r>
          </a:p>
          <a:p>
            <a:pPr>
              <a:spcAft>
                <a:spcPts val="1100"/>
              </a:spcAft>
              <a:defRPr sz="2100">
                <a:solidFill>
                  <a:srgbClr val="162239"/>
                </a:solidFill>
                <a:latin typeface="Microsoft YaHei"/>
              </a:defRPr>
            </a:pPr>
            <a:r>
              <a:t>提交包包含 10 篇 MinerU 原始解析样例，方便评审复核。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536073"/>
                </a:solidFill>
                <a:latin typeface="Microsoft YaHei"/>
              </a:defRPr>
            </a:pPr>
            <a:r>
              <a:t>公开仓库：github.com/taibaijun/sci-evo-agentic-paper-reading-dataset-v22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863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4847E"/>
                </a:solidFill>
                <a:latin typeface="Microsoft YaHei"/>
              </a:defRPr>
            </a:pPr>
            <a:r>
              <a:t>Sci-Evo 科学演化轨迹数据集 V22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607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39"/>
                </a:solidFill>
                <a:latin typeface="Microsoft YaHei"/>
              </a:defRPr>
            </a:pPr>
            <a:r>
              <a:t>质量审计结果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017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36073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488B5B"/>
                </a:solidFill>
                <a:latin typeface="Microsoft YaHei"/>
              </a:defRPr>
            </a:pPr>
            <a:r>
              <a:t>0</a:t>
            </a:r>
          </a:p>
          <a:p>
            <a:pPr algn="ctr">
              <a:defRPr sz="1200">
                <a:solidFill>
                  <a:srgbClr val="536073"/>
                </a:solidFill>
                <a:latin typeface="Microsoft YaHei"/>
              </a:defRPr>
            </a:pPr>
            <a:r>
              <a:t>错误证据 / 4434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39" y="1645920"/>
            <a:ext cx="25146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205BA7"/>
                </a:solidFill>
                <a:latin typeface="Microsoft YaHei"/>
              </a:defRPr>
            </a:pPr>
            <a:r>
              <a:t>142/142</a:t>
            </a:r>
          </a:p>
          <a:p>
            <a:pPr algn="ctr">
              <a:defRPr sz="1200">
                <a:solidFill>
                  <a:srgbClr val="536073"/>
                </a:solidFill>
                <a:latin typeface="Microsoft YaHei"/>
              </a:defRPr>
            </a:pPr>
            <a:r>
              <a:t>结构审计通过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645920"/>
            <a:ext cx="25146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14847E"/>
                </a:solidFill>
                <a:latin typeface="Microsoft YaHei"/>
              </a:defRPr>
            </a:pPr>
            <a:r>
              <a:t>0</a:t>
            </a:r>
          </a:p>
          <a:p>
            <a:pPr algn="ctr">
              <a:defRPr sz="1200">
                <a:solidFill>
                  <a:srgbClr val="536073"/>
                </a:solidFill>
                <a:latin typeface="Microsoft YaHei"/>
              </a:defRPr>
            </a:pPr>
            <a:r>
              <a:t>规则审计 未通过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645920"/>
            <a:ext cx="25146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CC9320"/>
                </a:solidFill>
                <a:latin typeface="Microsoft YaHei"/>
              </a:defRPr>
            </a:pPr>
            <a:r>
              <a:t>0</a:t>
            </a:r>
          </a:p>
          <a:p>
            <a:pPr algn="ctr">
              <a:defRPr sz="1200">
                <a:solidFill>
                  <a:srgbClr val="536073"/>
                </a:solidFill>
                <a:latin typeface="Microsoft YaHei"/>
              </a:defRPr>
            </a:pPr>
            <a:r>
              <a:t>重复 数据 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03320"/>
            <a:ext cx="102870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3703320"/>
            <a:ext cx="73152" cy="1143000"/>
          </a:xfrm>
          <a:prstGeom prst="rect">
            <a:avLst/>
          </a:prstGeom>
          <a:solidFill>
            <a:srgbClr val="162239"/>
          </a:solidFill>
          <a:ln>
            <a:solidFill>
              <a:srgbClr val="16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849624"/>
            <a:ext cx="9957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62239"/>
                </a:solidFill>
                <a:latin typeface="Microsoft YaHei"/>
              </a:defRPr>
            </a:pPr>
            <a:r>
              <a:t>为什么保守筛选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233672"/>
            <a:ext cx="993952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36073"/>
                </a:solidFill>
                <a:latin typeface="Microsoft YaHei"/>
              </a:defRPr>
            </a:pPr>
            <a:r>
              <a:t>178 条候选中，36 条 需复核风险 和 2 条 严重未通过 被排除，主提交只保留 规则审计通过 的 142 条。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4864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62239"/>
                </a:solidFill>
                <a:latin typeface="Microsoft YaHei"/>
              </a:defRPr>
            </a:pPr>
            <a:r>
              <a:t>目标不是堆数量，而是让评审相信：每条轨迹都有证据、有来源、可追溯。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536073"/>
                </a:solidFill>
                <a:latin typeface="Microsoft YaHei"/>
              </a:defRPr>
            </a:pPr>
            <a:r>
              <a:t>公开仓库：github.com/taibaijun/sci-evo-agentic-paper-reading-dataset-v22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863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4847E"/>
                </a:solidFill>
                <a:latin typeface="Microsoft YaHei"/>
              </a:defRPr>
            </a:pPr>
            <a:r>
              <a:t>Sci-Evo 科学演化轨迹数据集 V22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607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39"/>
                </a:solidFill>
                <a:latin typeface="Microsoft YaHei"/>
              </a:defRPr>
            </a:pPr>
            <a:r>
              <a:t>合规、安全与伦理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017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36073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34747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73152" cy="1234440"/>
          </a:xfrm>
          <a:prstGeom prst="rect">
            <a:avLst/>
          </a:prstGeom>
          <a:solidFill>
            <a:srgbClr val="205BA7"/>
          </a:solidFill>
          <a:ln>
            <a:solidFill>
              <a:srgbClr val="205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29384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2239"/>
                </a:solidFill>
                <a:latin typeface="Microsoft YaHei"/>
              </a:defRPr>
            </a:pPr>
            <a:r>
              <a:t>开放来源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13432"/>
            <a:ext cx="312724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36073"/>
                </a:solidFill>
                <a:latin typeface="Microsoft YaHei"/>
              </a:defRPr>
            </a:pPr>
            <a:r>
              <a:t>数据来自开放获取论文，保留 DOI、license 和来源路径。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783080"/>
            <a:ext cx="34747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783080"/>
            <a:ext cx="73152" cy="1234440"/>
          </a:xfrm>
          <a:prstGeom prst="rect">
            <a:avLst/>
          </a:prstGeom>
          <a:solidFill>
            <a:srgbClr val="14847E"/>
          </a:solidFill>
          <a:ln>
            <a:solidFill>
              <a:srgbClr val="14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29384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2239"/>
                </a:solidFill>
                <a:latin typeface="Microsoft YaHei"/>
              </a:defRPr>
            </a:pPr>
            <a:r>
              <a:t>不伪造结果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13432"/>
            <a:ext cx="312724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36073"/>
                </a:solidFill>
                <a:latin typeface="Microsoft YaHei"/>
              </a:defRPr>
            </a:pPr>
            <a:r>
              <a:t>数据集不声明新实验；每步都必须引用源论文证据。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783080"/>
            <a:ext cx="34747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1783080"/>
            <a:ext cx="73152" cy="1234440"/>
          </a:xfrm>
          <a:prstGeom prst="rect">
            <a:avLst/>
          </a:prstGeom>
          <a:solidFill>
            <a:srgbClr val="CA5B49"/>
          </a:solidFill>
          <a:ln>
            <a:solidFill>
              <a:srgbClr val="CA5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929384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2239"/>
                </a:solidFill>
                <a:latin typeface="Microsoft YaHei"/>
              </a:defRPr>
            </a:pPr>
            <a:r>
              <a:t>用途边界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313432"/>
            <a:ext cx="312724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36073"/>
                </a:solidFill>
                <a:latin typeface="Microsoft YaHei"/>
              </a:defRPr>
            </a:pPr>
            <a:r>
              <a:t>不是湿实验协议库，不能替代安全审查或专家判断。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977639"/>
            <a:ext cx="10241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62239"/>
                </a:solidFill>
                <a:latin typeface="Microsoft YaHei"/>
              </a:defRPr>
            </a:pPr>
            <a:r>
              <a:t>结构化标注层可按 CC BY 4.0 发布。</a:t>
            </a:r>
          </a:p>
          <a:p>
            <a:pPr>
              <a:spcAft>
                <a:spcPts val="1000"/>
              </a:spcAft>
              <a:defRPr sz="2000">
                <a:solidFill>
                  <a:srgbClr val="162239"/>
                </a:solidFill>
                <a:latin typeface="Microsoft YaHei"/>
              </a:defRPr>
            </a:pPr>
            <a:r>
              <a:t>源论文文本、图表和 证据引用 仍遵循原论文许可。</a:t>
            </a:r>
          </a:p>
          <a:p>
            <a:pPr>
              <a:spcAft>
                <a:spcPts val="1000"/>
              </a:spcAft>
              <a:defRPr sz="2000">
                <a:solidFill>
                  <a:srgbClr val="162239"/>
                </a:solidFill>
                <a:latin typeface="Microsoft YaHei"/>
              </a:defRPr>
            </a:pPr>
            <a:r>
              <a:t>使用数据集时，应同时引用数据集和原始论文。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19088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536073"/>
                </a:solidFill>
                <a:latin typeface="Microsoft YaHei"/>
              </a:defRPr>
            </a:pPr>
            <a:r>
              <a:t>公开仓库：github.com/taibaijun/sci-evo-agentic-paper-reading-dataset-v22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863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4847E"/>
                </a:solidFill>
                <a:latin typeface="Microsoft YaHei"/>
              </a:defRPr>
            </a:pPr>
            <a:r>
              <a:t>Sci-Evo 科学演化轨迹数据集 V22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607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39"/>
                </a:solidFill>
                <a:latin typeface="Microsoft YaHei"/>
              </a:defRPr>
            </a:pPr>
            <a:r>
              <a:t>应用价值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017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36073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48920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73152" cy="1234440"/>
          </a:xfrm>
          <a:prstGeom prst="rect">
            <a:avLst/>
          </a:prstGeom>
          <a:solidFill>
            <a:srgbClr val="205BA7"/>
          </a:solidFill>
          <a:ln>
            <a:solidFill>
              <a:srgbClr val="205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837944"/>
            <a:ext cx="4562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62239"/>
                </a:solidFill>
                <a:latin typeface="Microsoft YaHei"/>
              </a:defRPr>
            </a:pPr>
            <a:r>
              <a:t>科学智能体训练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221992"/>
            <a:ext cx="454456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36073"/>
                </a:solidFill>
                <a:latin typeface="Microsoft YaHei"/>
              </a:defRPr>
            </a:pPr>
            <a:r>
              <a:t>学习多步科研计划、反馈处理和修订。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9" y="1691640"/>
            <a:ext cx="48920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79" y="1691640"/>
            <a:ext cx="73152" cy="1234440"/>
          </a:xfrm>
          <a:prstGeom prst="rect">
            <a:avLst/>
          </a:prstGeom>
          <a:solidFill>
            <a:srgbClr val="14847E"/>
          </a:solidFill>
          <a:ln>
            <a:solidFill>
              <a:srgbClr val="14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7" y="1837944"/>
            <a:ext cx="4562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62239"/>
                </a:solidFill>
                <a:latin typeface="Microsoft YaHei"/>
              </a:defRPr>
            </a:pPr>
            <a:r>
              <a:t>科研轨迹检索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7" y="2221992"/>
            <a:ext cx="454456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36073"/>
                </a:solidFill>
                <a:latin typeface="Microsoft YaHei"/>
              </a:defRPr>
            </a:pPr>
            <a:r>
              <a:t>按问题、方法、结果和证据检索研究过程。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66160"/>
            <a:ext cx="48920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566160"/>
            <a:ext cx="73152" cy="1234440"/>
          </a:xfrm>
          <a:prstGeom prst="rect">
            <a:avLst/>
          </a:prstGeom>
          <a:solidFill>
            <a:srgbClr val="488B5B"/>
          </a:solidFill>
          <a:ln>
            <a:solidFill>
              <a:srgbClr val="48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712463"/>
            <a:ext cx="4562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62239"/>
                </a:solidFill>
                <a:latin typeface="Microsoft YaHei"/>
              </a:defRPr>
            </a:pPr>
            <a:r>
              <a:t>模型评估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4096511"/>
            <a:ext cx="454456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36073"/>
                </a:solidFill>
                <a:latin typeface="Microsoft YaHei"/>
              </a:defRPr>
            </a:pPr>
            <a:r>
              <a:t>评估证据对齐、过程推理和失败结果理解。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3566160"/>
            <a:ext cx="48920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79" y="3566160"/>
            <a:ext cx="73152" cy="1234440"/>
          </a:xfrm>
          <a:prstGeom prst="rect">
            <a:avLst/>
          </a:prstGeom>
          <a:solidFill>
            <a:srgbClr val="CC9320"/>
          </a:solidFill>
          <a:ln>
            <a:solidFill>
              <a:srgbClr val="CC9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7" y="3712463"/>
            <a:ext cx="4562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62239"/>
                </a:solidFill>
                <a:latin typeface="Microsoft YaHei"/>
              </a:defRPr>
            </a:pPr>
            <a:r>
              <a:t>AI4Science 数据底座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7" y="4096511"/>
            <a:ext cx="454456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36073"/>
                </a:solidFill>
                <a:latin typeface="Microsoft YaHei"/>
              </a:defRPr>
            </a:pPr>
            <a:r>
              <a:t>为科研过程建模提供结构化样本。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66928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62239"/>
                </a:solidFill>
                <a:latin typeface="Microsoft YaHei"/>
              </a:defRPr>
            </a:pPr>
            <a:r>
              <a:t>关键词：不是“最终答案数据”，而是“科研过程数据”。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19088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536073"/>
                </a:solidFill>
                <a:latin typeface="Microsoft YaHei"/>
              </a:defRPr>
            </a:pPr>
            <a:r>
              <a:t>公开仓库：github.com/taibaijun/sci-evo-agentic-paper-reading-dataset-v22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863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4847E"/>
                </a:solidFill>
                <a:latin typeface="Microsoft YaHei"/>
              </a:defRPr>
            </a:pPr>
            <a:r>
              <a:t>Sci-Evo 科学演化轨迹数据集 V22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607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39"/>
                </a:solidFill>
                <a:latin typeface="Microsoft YaHei"/>
              </a:defRPr>
            </a:pPr>
            <a:r>
              <a:t>本次提交材料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017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36073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498348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73152" cy="3429000"/>
          </a:xfrm>
          <a:prstGeom prst="rect">
            <a:avLst/>
          </a:prstGeom>
          <a:solidFill>
            <a:srgbClr val="205BA7"/>
          </a:solidFill>
          <a:ln>
            <a:solidFill>
              <a:srgbClr val="205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746504"/>
            <a:ext cx="4654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62239"/>
                </a:solidFill>
                <a:latin typeface="Microsoft YaHei"/>
              </a:defRPr>
            </a:pPr>
            <a:r>
              <a:t>数据与质量材料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130552"/>
            <a:ext cx="4636008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36073"/>
                </a:solidFill>
                <a:latin typeface="Microsoft YaHei"/>
              </a:defRPr>
            </a:pPr>
            <a:r>
              <a:t>`dataset.jsonl` 主数据</a:t>
            </a:r>
            <a:br/>
            <a:r>
              <a:t>`samples_10.json` 10 条完整样例</a:t>
            </a:r>
            <a:br/>
            <a:r>
              <a:t>`quality_report.json` 质量摘要</a:t>
            </a:r>
            <a:br/>
            <a:r>
              <a:t>`audits/` 审计结果</a:t>
            </a:r>
            <a:br/>
            <a:r>
              <a:t>`traces/` 可追溯过程记录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00200"/>
            <a:ext cx="498348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600200"/>
            <a:ext cx="73152" cy="3429000"/>
          </a:xfrm>
          <a:prstGeom prst="rect">
            <a:avLst/>
          </a:prstGeom>
          <a:solidFill>
            <a:srgbClr val="14847E"/>
          </a:solidFill>
          <a:ln>
            <a:solidFill>
              <a:srgbClr val="14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746504"/>
            <a:ext cx="4654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62239"/>
                </a:solidFill>
                <a:latin typeface="Microsoft YaHei"/>
              </a:defRPr>
            </a:pPr>
            <a:r>
              <a:t>文档、代码与展示材料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130552"/>
            <a:ext cx="4636008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36073"/>
                </a:solidFill>
                <a:latin typeface="Microsoft YaHei"/>
              </a:defRPr>
            </a:pPr>
            <a:r>
              <a:t>`docs/technical_report.md` 技术报告</a:t>
            </a:r>
            <a:br/>
            <a:r>
              <a:t>`docs/结构规范.md` 字段说明</a:t>
            </a:r>
            <a:br/>
            <a:r>
              <a:t>`docs/mineru_usage.md` MinerU 使用说明</a:t>
            </a:r>
            <a:br/>
            <a:r>
              <a:t>`raw_data_samples/` 原始数据样例</a:t>
            </a:r>
            <a:br/>
            <a:r>
              <a:t>`code/` 构建代码</a:t>
            </a:r>
            <a:br/>
            <a:r>
              <a:t>`docs/project_pitch_slides.pptx` 中文 PPT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2239"/>
                </a:solidFill>
                <a:latin typeface="Microsoft YaHei"/>
              </a:defRPr>
            </a:pPr>
            <a:r>
              <a:t>加分项：构建代码已开源，项目介绍 PPT 已随包提供。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536073"/>
                </a:solidFill>
                <a:latin typeface="Microsoft YaHei"/>
              </a:defRPr>
            </a:pPr>
            <a:r>
              <a:t>公开仓库：github.com/taibaijun/sci-evo-agentic-paper-reading-dataset-v22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6012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Microsoft YaHei"/>
              </a:defRPr>
            </a:pPr>
            <a:r>
              <a:t>让 AI 学会科研过程，而不是只记住科研结论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2EBF4"/>
                </a:solidFill>
                <a:latin typeface="Microsoft YaHei"/>
              </a:defRPr>
            </a:pPr>
            <a:r>
              <a:t>Sci-Evo 科学演化轨迹数据集 V22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3154680"/>
            <a:ext cx="20574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162239"/>
                </a:solidFill>
                <a:latin typeface="Microsoft YaHei"/>
              </a:defRPr>
            </a:pPr>
            <a:r>
              <a:t>142</a:t>
            </a:r>
          </a:p>
          <a:p>
            <a:pPr algn="ctr">
              <a:defRPr sz="1200">
                <a:solidFill>
                  <a:srgbClr val="536073"/>
                </a:solidFill>
                <a:latin typeface="Microsoft YaHei"/>
              </a:defRPr>
            </a:pPr>
            <a:r>
              <a:t>样本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03320" y="3154680"/>
            <a:ext cx="20574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162239"/>
                </a:solidFill>
                <a:latin typeface="Microsoft YaHei"/>
              </a:defRPr>
            </a:pPr>
            <a:r>
              <a:t>1,623</a:t>
            </a:r>
          </a:p>
          <a:p>
            <a:pPr algn="ctr">
              <a:defRPr sz="1200">
                <a:solidFill>
                  <a:srgbClr val="536073"/>
                </a:solidFill>
                <a:latin typeface="Microsoft YaHei"/>
              </a:defRPr>
            </a:pPr>
            <a:r>
              <a:t>步骤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154680"/>
            <a:ext cx="20574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162239"/>
                </a:solidFill>
                <a:latin typeface="Microsoft YaHei"/>
              </a:defRPr>
            </a:pPr>
            <a:r>
              <a:t>4,434</a:t>
            </a:r>
          </a:p>
          <a:p>
            <a:pPr algn="ctr">
              <a:defRPr sz="1200">
                <a:solidFill>
                  <a:srgbClr val="536073"/>
                </a:solidFill>
                <a:latin typeface="Microsoft YaHei"/>
              </a:defRPr>
            </a:pPr>
            <a:r>
              <a:t>证据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3154680"/>
            <a:ext cx="20574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4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162239"/>
                </a:solidFill>
                <a:latin typeface="Microsoft YaHei"/>
              </a:defRPr>
            </a:pPr>
            <a:r>
              <a:t>0</a:t>
            </a:r>
          </a:p>
          <a:p>
            <a:pPr algn="ctr">
              <a:defRPr sz="1200">
                <a:solidFill>
                  <a:srgbClr val="536073"/>
                </a:solidFill>
                <a:latin typeface="Microsoft YaHei"/>
              </a:defRPr>
            </a:pPr>
            <a:r>
              <a:t>错误证据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Microsoft YaHei"/>
              </a:defRPr>
            </a:pPr>
            <a:r>
              <a:t>谢谢各位评审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607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BF4"/>
                </a:solidFill>
                <a:latin typeface="Microsoft YaHei"/>
              </a:defRPr>
            </a:pPr>
            <a:r>
              <a:t>github.com/taibaijun/sci-evo-agentic-paper-reading-dataset-v22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