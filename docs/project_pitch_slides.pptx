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C847B"/>
          </a:solidFill>
          <a:ln>
            <a:solidFill>
              <a:srgbClr val="1C84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865376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1EBF2"/>
                </a:solidFill>
              </a:defRPr>
            </a:pPr>
            <a:r>
              <a:t>?? MinerU ??????????????????????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788920"/>
            <a:ext cx="10241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?????Sci-Evo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???????? AI/??????????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?????https://github.com/taibaijun/sci-evo-agentic-paper-reading-dataset-v22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413248"/>
            <a:ext cx="2057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21F35"/>
                </a:solidFill>
              </a:defRPr>
            </a:pPr>
            <a:r>
              <a:t>142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primary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5413248"/>
            <a:ext cx="22402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21F35"/>
                </a:solidFill>
              </a:defRPr>
            </a:pPr>
            <a:r>
              <a:t>4,434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evidence quotes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5413248"/>
            <a:ext cx="2057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21F35"/>
                </a:solidFill>
              </a:defRPr>
            </a:pPr>
            <a:r>
              <a:t>Sci-Evo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track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5413248"/>
            <a:ext cx="2057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21F35"/>
                </a:solidFill>
              </a:defRPr>
            </a:pPr>
            <a:r>
              <a:t>MinerU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parser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C847B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????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52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??????????????????????????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?????????????????????????????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?????????????????????????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25E70"/>
                </a:solidFill>
              </a:defRPr>
            </a:pPr>
            <a:r>
              <a:t>Sci-Evo | MinerU | Evidence-grounded scientific trajectories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C847B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?????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00784"/>
            <a:ext cx="2359152" cy="1225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2660A4"/>
                </a:solidFill>
              </a:defRPr>
            </a:pPr>
            <a:r>
              <a:t>142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??????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700784"/>
            <a:ext cx="2359152" cy="1225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C847B"/>
                </a:solidFill>
              </a:defRPr>
            </a:pPr>
            <a:r>
              <a:t>1,623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??????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00784"/>
            <a:ext cx="2359152" cy="1225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4F8D5D"/>
                </a:solidFill>
              </a:defRPr>
            </a:pPr>
            <a:r>
              <a:t>4,434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??????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07424" y="1700784"/>
            <a:ext cx="2359152" cy="1225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D4A017"/>
                </a:solidFill>
              </a:defRPr>
            </a:pPr>
            <a:r>
              <a:t>10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??????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106984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5"/>
                </a:solidFill>
              </a:defRPr>
            </a:pPr>
            <a:r>
              <a:t>??????dataset.jsonl</a:t>
            </a:r>
          </a:p>
          <a:p>
            <a:pPr>
              <a:spcAft>
                <a:spcPts val="800"/>
              </a:spcAft>
              <a:defRPr sz="1800">
                <a:solidFill>
                  <a:srgbClr val="121F35"/>
                </a:solidFill>
              </a:defRPr>
            </a:pPr>
            <a:r>
              <a:t>?????samples_10.json</a:t>
            </a:r>
          </a:p>
          <a:p>
            <a:pPr>
              <a:spcAft>
                <a:spcPts val="800"/>
              </a:spcAft>
              <a:defRPr sz="1800">
                <a:solidFill>
                  <a:srgbClr val="121F35"/>
                </a:solidFill>
              </a:defRPr>
            </a:pPr>
            <a:r>
              <a:t>????? 178 ???????????????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25E70"/>
                </a:solidFill>
              </a:defRPr>
            </a:pPr>
            <a:r>
              <a:t>Sci-Evo | MinerU | Evidence-grounded scientific trajectories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C847B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????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52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 JSONL ??????????? Sci-Evo case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?????source?initial_request?evolution_trajectory?success_verification?quality_control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??????????????????????????????????????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25E70"/>
                </a:solidFill>
              </a:defRPr>
            </a:pPr>
            <a:r>
              <a:t>Sci-Evo | MinerU | Evidence-grounded scientific trajectories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C847B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????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1275588" cy="676656"/>
          </a:xfrm>
          <a:prstGeom prst="roundRect">
            <a:avLst>
              <a:gd name="adj" fmla="val 8000"/>
            </a:avLst>
          </a:prstGeom>
          <a:solidFill>
            <a:srgbClr val="2660A4"/>
          </a:solidFill>
          <a:ln>
            <a:solidFill>
              <a:srgbClr val="266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MinerU ??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79676" y="1874519"/>
            <a:ext cx="1275588" cy="676656"/>
          </a:xfrm>
          <a:prstGeom prst="roundRect">
            <a:avLst>
              <a:gd name="adj" fmla="val 8000"/>
            </a:avLst>
          </a:prstGeom>
          <a:solidFill>
            <a:srgbClr val="1C847B"/>
          </a:solidFill>
          <a:ln>
            <a:solidFill>
              <a:srgbClr val="1C84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????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4992" y="1874519"/>
            <a:ext cx="1275588" cy="676656"/>
          </a:xfrm>
          <a:prstGeom prst="roundRect">
            <a:avLst>
              <a:gd name="adj" fmla="val 8000"/>
            </a:avLst>
          </a:prstGeom>
          <a:solidFill>
            <a:srgbClr val="4F8D5D"/>
          </a:solidFill>
          <a:ln>
            <a:solidFill>
              <a:srgbClr val="4F8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????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0308" y="1874519"/>
            <a:ext cx="1275588" cy="676656"/>
          </a:xfrm>
          <a:prstGeom prst="roundRect">
            <a:avLst>
              <a:gd name="adj" fmla="val 8000"/>
            </a:avLst>
          </a:prstGeom>
          <a:solidFill>
            <a:srgbClr val="D4A017"/>
          </a:solidFill>
          <a:ln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???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1874519"/>
            <a:ext cx="1275588" cy="676656"/>
          </a:xfrm>
          <a:prstGeom prst="roundRect">
            <a:avLst>
              <a:gd name="adj" fmla="val 8000"/>
            </a:avLst>
          </a:prstGeom>
          <a:solidFill>
            <a:srgbClr val="2660A4"/>
          </a:solidFill>
          <a:ln>
            <a:solidFill>
              <a:srgbClr val="266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????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20940" y="1874519"/>
            <a:ext cx="1275588" cy="676656"/>
          </a:xfrm>
          <a:prstGeom prst="roundRect">
            <a:avLst>
              <a:gd name="adj" fmla="val 8000"/>
            </a:avLst>
          </a:prstGeom>
          <a:solidFill>
            <a:srgbClr val="1C847B"/>
          </a:solidFill>
          <a:ln>
            <a:solidFill>
              <a:srgbClr val="1C84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????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874519"/>
            <a:ext cx="1275588" cy="676656"/>
          </a:xfrm>
          <a:prstGeom prst="roundRect">
            <a:avLst>
              <a:gd name="adj" fmla="val 8000"/>
            </a:avLst>
          </a:prstGeom>
          <a:solidFill>
            <a:srgbClr val="4F8D5D"/>
          </a:solidFill>
          <a:ln>
            <a:solidFill>
              <a:srgbClr val="4F8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????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91572" y="1874519"/>
            <a:ext cx="1275588" cy="676656"/>
          </a:xfrm>
          <a:prstGeom prst="roundRect">
            <a:avLst>
              <a:gd name="adj" fmla="val 8000"/>
            </a:avLst>
          </a:prstGeom>
          <a:solidFill>
            <a:srgbClr val="D4A017"/>
          </a:solidFill>
          <a:ln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????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6324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5"/>
                </a:solidFill>
              </a:defRPr>
            </a:pPr>
            <a:r>
              <a:t>DeepSeek-v4-pro ????????????????</a:t>
            </a:r>
          </a:p>
          <a:p>
            <a:pPr>
              <a:spcAft>
                <a:spcPts val="800"/>
              </a:spcAft>
              <a:defRPr sz="1800">
                <a:solidFill>
                  <a:srgbClr val="121F35"/>
                </a:solidFill>
              </a:defRPr>
            </a:pPr>
            <a:r>
              <a:t>??????? schema??????????/?? grounding ?????</a:t>
            </a:r>
          </a:p>
          <a:p>
            <a:pPr>
              <a:spcAft>
                <a:spcPts val="800"/>
              </a:spcAft>
              <a:defRPr sz="1800">
                <a:solidFill>
                  <a:srgbClr val="121F35"/>
                </a:solidFill>
              </a:defRPr>
            </a:pPr>
            <a:r>
              <a:t>????? rule-audit pass ? 142 ????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25E70"/>
                </a:solidFill>
              </a:defRPr>
            </a:pPr>
            <a:r>
              <a:t>Sci-Evo | MinerU | Evidence-grounded scientific trajectories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C847B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MinerU ???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52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 PDF ??? mineru.md?combined.md?content_list.json?status.json ??????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combined.md ?????????????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 evidence quote ?????? MinerU ?????????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raw_data_samples/docs/ ?? 10 ??? MinerU 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25E70"/>
                </a:solidFill>
              </a:defRPr>
            </a:pPr>
            <a:r>
              <a:t>Sci-Evo | MinerU | Evidence-grounded scientific trajectories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C847B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??????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00784"/>
            <a:ext cx="2359152" cy="1225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2660A4"/>
                </a:solidFill>
              </a:defRPr>
            </a:pPr>
            <a:r>
              <a:t>0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???? spans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700784"/>
            <a:ext cx="2359152" cy="1225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C847B"/>
                </a:solidFill>
              </a:defRPr>
            </a:pPr>
            <a:r>
              <a:t>142/142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??????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00784"/>
            <a:ext cx="2359152" cy="1225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4F8D5D"/>
                </a:solidFill>
              </a:defRPr>
            </a:pPr>
            <a:r>
              <a:t>0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???? fail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07424" y="1700784"/>
            <a:ext cx="2359152" cy="1225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D4A017"/>
                </a:solidFill>
              </a:defRPr>
            </a:pPr>
            <a:r>
              <a:t>0</a:t>
            </a:r>
          </a:p>
          <a:p>
            <a:pPr algn="ctr">
              <a:defRPr sz="1200">
                <a:solidFill>
                  <a:srgbClr val="525E70"/>
                </a:solidFill>
              </a:defRPr>
            </a:pPr>
            <a:r>
              <a:t>?? case_id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106984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5"/>
                </a:solidFill>
              </a:defRPr>
            </a:pPr>
            <a:r>
              <a:t>Evidence audit?0 bad evidence / 4,434</a:t>
            </a:r>
          </a:p>
          <a:p>
            <a:pPr>
              <a:spcAft>
                <a:spcPts val="800"/>
              </a:spcAft>
              <a:defRPr sz="1800">
                <a:solidFill>
                  <a:srgbClr val="121F35"/>
                </a:solidFill>
              </a:defRPr>
            </a:pPr>
            <a:r>
              <a:t>Structure audit?142 pass / 0 repair / 0 issues</a:t>
            </a:r>
          </a:p>
          <a:p>
            <a:pPr>
              <a:spcAft>
                <a:spcPts val="800"/>
              </a:spcAft>
              <a:defRPr sz="1800">
                <a:solidFill>
                  <a:srgbClr val="121F35"/>
                </a:solidFill>
              </a:defRPr>
            </a:pPr>
            <a:r>
              <a:t>Rule audit?142 pass / 0 review / 0 fail / 0 high warnings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25E70"/>
                </a:solidFill>
              </a:defRPr>
            </a:pPr>
            <a:r>
              <a:t>Sci-Evo | MinerU | Evidence-grounded scientific trajectories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C847B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?????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52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???????????????? title?DOI?license?source path ????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 CC BY 4.0????????????????????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??????????????????????????????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25E70"/>
                </a:solidFill>
              </a:defRPr>
            </a:pPr>
            <a:r>
              <a:t>Sci-Evo | MinerU | Evidence-grounded scientific trajectories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C847B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????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52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?????????????????????????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?????????????????????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??????????????????????????????????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25E70"/>
                </a:solidFill>
              </a:defRPr>
            </a:pPr>
            <a:r>
              <a:t>Sci-Evo | MinerU | Evidence-grounded scientific trajectories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C847B"/>
                </a:solidFill>
              </a:defRPr>
            </a:pPr>
            <a:r>
              <a:t>Sci-Evo Agentic Paper-Reading Dataset V22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????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52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dataset.jsonl?samples_10.json?quality_report.json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docs/technical_report.md?schema.md?data_card.md?construction_pipeline.md?mineru_usage.md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raw_data_samples/?traces/?audits/?code/</a:t>
            </a:r>
          </a:p>
          <a:p>
            <a:pPr>
              <a:spcAft>
                <a:spcPts val="800"/>
              </a:spcAft>
              <a:defRPr sz="2000">
                <a:solidFill>
                  <a:srgbClr val="121F35"/>
                </a:solidFill>
              </a:defRPr>
            </a:pPr>
            <a:r>
              <a:t>?????? GitHub ???? PPT 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25E70"/>
                </a:solidFill>
              </a:defRPr>
            </a:pPr>
            <a:r>
              <a:t>Sci-Evo | MinerU | Evidence-grounded scientific trajectories  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